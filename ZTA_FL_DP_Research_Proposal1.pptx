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D42D9-A411-9791-2898-179E0D6BD90C}" v="11" dt="2026-08-04T13:37:42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ZAMAN" userId="S::25-93713-1@student.aiub.edu::e30b97e3-01ce-4fc6-a9ae-082dc64fb553" providerId="AD" clId="Web-{A80D42D9-A411-9791-2898-179E0D6BD90C}"/>
    <pc:docChg chg="modSld">
      <pc:chgData name="ASIF ZAMAN" userId="S::25-93713-1@student.aiub.edu::e30b97e3-01ce-4fc6-a9ae-082dc64fb553" providerId="AD" clId="Web-{A80D42D9-A411-9791-2898-179E0D6BD90C}" dt="2026-08-04T13:37:42.903" v="10" actId="20577"/>
      <pc:docMkLst>
        <pc:docMk/>
      </pc:docMkLst>
      <pc:sldChg chg="modSp">
        <pc:chgData name="ASIF ZAMAN" userId="S::25-93713-1@student.aiub.edu::e30b97e3-01ce-4fc6-a9ae-082dc64fb553" providerId="AD" clId="Web-{A80D42D9-A411-9791-2898-179E0D6BD90C}" dt="2026-08-04T13:37:42.903" v="10" actId="20577"/>
        <pc:sldMkLst>
          <pc:docMk/>
          <pc:sldMk cId="0" sldId="256"/>
        </pc:sldMkLst>
        <pc:spChg chg="mod">
          <ac:chgData name="ASIF ZAMAN" userId="S::25-93713-1@student.aiub.edu::e30b97e3-01ce-4fc6-a9ae-082dc64fb553" providerId="AD" clId="Web-{A80D42D9-A411-9791-2898-179E0D6BD90C}" dt="2026-08-04T13:37:42.903" v="1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ASIF ZAMAN" userId="S::25-93713-1@student.aiub.edu::e30b97e3-01ce-4fc6-a9ae-082dc64fb553" providerId="AD" clId="Web-{A80D42D9-A411-9791-2898-179E0D6BD90C}" dt="2026-08-04T13:35:03.434" v="8"/>
        <pc:sldMkLst>
          <pc:docMk/>
          <pc:sldMk cId="0" sldId="258"/>
        </pc:sldMkLst>
        <pc:graphicFrameChg chg="mod modGraphic">
          <ac:chgData name="ASIF ZAMAN" userId="S::25-93713-1@student.aiub.edu::e30b97e3-01ce-4fc6-a9ae-082dc64fb553" providerId="AD" clId="Web-{A80D42D9-A411-9791-2898-179E0D6BD90C}" dt="2026-08-04T13:35:03.434" v="8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91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RESEARCH PROPOSAL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Differential Privacy</a:t>
            </a:r>
            <a:endParaRPr lang="en-US" sz="300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Federated Risk Assessment</a:t>
            </a:r>
            <a:endParaRPr lang="en-US" sz="300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Zero Trust Architecture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7490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891B2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749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657600" y="37490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8B5CF6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3749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492240" y="37490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749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Department of Data Science   |   2025–2026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GAP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</a:rPr>
              <a:t>⚠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68680" y="144475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networks trust everything inside the perimeter — one breach compromises everything.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</a:rPr>
              <a:t>🔒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 (ZTA) solves perimeter trust but requires centralized risk scoring, creating privacy risks.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</a:rPr>
              <a:t>📊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enables decentralized risk scoring, but existing FL systems apply uniform, static noise — ignoring real-world context.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</a:rPr>
              <a:t>🎯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68680" y="369417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system adapts privacy protection dynamically based on user context (location, role, time, device).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206240" cy="4069080"/>
          </a:xfrm>
          <a:prstGeom prst="roundRect">
            <a:avLst>
              <a:gd name="adj" fmla="val 2697"/>
            </a:avLst>
          </a:prstGeom>
          <a:solidFill>
            <a:srgbClr val="0D1B3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813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</a:rPr>
              <a:t>Static DP in FL
</a:t>
            </a:r>
            <a:r>
              <a:rPr lang="en-US" sz="950">
                <a:solidFill>
                  <a:schemeClr val="bg1">
                    <a:lumMod val="50000"/>
                  </a:schemeClr>
                </a:solidFill>
              </a:rPr>
              <a:t>All clients use the same privacy budget ε regardless of risk context.</a:t>
            </a:r>
            <a:endParaRPr 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46320" y="2212848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3113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</a:rPr>
              <a:t>No Context Awareness
</a:t>
            </a:r>
            <a:r>
              <a:rPr lang="en-US" sz="950">
                <a:solidFill>
                  <a:schemeClr val="bg1">
                    <a:lumMod val="50000"/>
                  </a:schemeClr>
                </a:solidFill>
              </a:rPr>
              <a:t>Current ZTA trust scores ignore behavioral and environmental signals.</a:t>
            </a:r>
            <a:endParaRPr 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2962656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809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</a:rPr>
              <a:t>Privacy-Utility Trade-off
</a:t>
            </a:r>
            <a:r>
              <a:rPr lang="en-US" sz="950">
                <a:solidFill>
                  <a:schemeClr val="bg1">
                    <a:lumMod val="50000"/>
                  </a:schemeClr>
                </a:solidFill>
              </a:rPr>
              <a:t>Fixed noise degrades model accuracy for low-risk users unnecessarily.</a:t>
            </a:r>
            <a:endParaRPr lang="en-US" sz="105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3712464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7307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</a:rPr>
              <a:t>Missing ZTA+FL+DP Integration
</a:t>
            </a:r>
            <a:r>
              <a:rPr lang="en-US" sz="950">
                <a:solidFill>
                  <a:schemeClr val="bg1">
                    <a:lumMod val="50000"/>
                  </a:schemeClr>
                </a:solidFill>
              </a:rPr>
              <a:t>No unified framework combines all three with adaptive mechanisms.</a:t>
            </a:r>
            <a:endParaRPr lang="en-US" sz="105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WORKS — LITERATURE SUMMARY</a:t>
            </a:r>
            <a:endParaRPr lang="en-US" sz="16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19601"/>
              </p:ext>
            </p:extLst>
          </p:nvPr>
        </p:nvGraphicFramePr>
        <p:xfrm>
          <a:off x="182880" y="777240"/>
          <a:ext cx="8778240" cy="377647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Authors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ZT-FL-PE (Chokkanathan et al.)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ZTA + FL for model/data privacy in enterprise networks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synthetic logs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privacy; no accuracy benchmark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No adaptive DP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Static trust policy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FedZTA (Liu et al.)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FL-based ZTA for Industrial Control Systems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ICS traffic + SCADA logs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Accuracy: 94.2%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Centralized aggregation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No DP guarantee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Blockchain+FL+ZTA (Pokhrel et al.)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blockchain FL + anomaly detection for ZTA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UNSW-NB15, custom network logs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F1: 91.7%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Blockchain overhead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No adaptive privacy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DP-IoT ZTA (Hussain et al.)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+ Blockchain + FL for IoT ZTA privacy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device logs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Privacy: ε=2.0; Acc drop: 3.1%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ε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context-sensitive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DP-FL (Khalaf et al.)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DP with dynamic noise for cross-IoT FL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IoT datasets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Privacy-utility balance improved vs. fixed DP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ZTA integration-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context factors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 FL (Wang et al.)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 proofs + FL for trustworthy training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FL datasets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privacy; high computation cost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No ZTA framework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Not scalable for large networks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Differential Privacy Federated Learning for ZTA Risk Assessment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08760" cy="2506978"/>
          </a:xfrm>
          <a:prstGeom prst="roundRect">
            <a:avLst>
              <a:gd name="adj" fmla="val 7273"/>
            </a:avLst>
          </a:prstGeom>
          <a:solidFill>
            <a:srgbClr val="0891B2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" y="15544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74320" y="230428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 behavior signals: login time, location, device type, request frequency, IP reputation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1783080" y="3063240"/>
            <a:ext cx="21031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417320"/>
            <a:ext cx="1508760" cy="2506978"/>
          </a:xfrm>
          <a:prstGeom prst="roundRect">
            <a:avLst>
              <a:gd name="adj" fmla="val 7273"/>
            </a:avLst>
          </a:prstGeom>
          <a:solidFill>
            <a:srgbClr val="8B5CF6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7732" y="15544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4277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993392" y="230428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2084832" y="292608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classifies each session as Low / Medium / High risk tier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502152" y="3063240"/>
            <a:ext cx="21031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417320"/>
            <a:ext cx="1508760" cy="2506978"/>
          </a:xfrm>
          <a:prstGeom prst="roundRect">
            <a:avLst>
              <a:gd name="adj" fmla="val 7273"/>
            </a:avLst>
          </a:prstGeom>
          <a:solidFill>
            <a:srgbClr val="F59E0B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46804" y="15544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46804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712464" y="230428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DP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803904" y="292608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 ε adapts to risk tier: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Low→ε=5.0 | Med→ε=2.0 | High→ε=0.5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5221224" y="3063240"/>
            <a:ext cx="21031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1417320"/>
            <a:ext cx="1508760" cy="2506978"/>
          </a:xfrm>
          <a:prstGeom prst="roundRect">
            <a:avLst>
              <a:gd name="adj" fmla="val 7273"/>
            </a:avLst>
          </a:prstGeom>
          <a:solidFill>
            <a:srgbClr val="10B981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65876" y="15544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865876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431536" y="230428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522976" y="292608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train local risk models; noisy gradients aggregated via FedAvg — no raw data shared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6940296" y="3063240"/>
            <a:ext cx="21031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417320"/>
            <a:ext cx="1508760" cy="2506972"/>
          </a:xfrm>
          <a:prstGeom prst="roundRect">
            <a:avLst>
              <a:gd name="adj" fmla="val 7273"/>
            </a:avLst>
          </a:prstGeom>
          <a:solidFill>
            <a:srgbClr val="E94560">
              <a:alpha val="85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4948" y="1554480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7584948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7150608" y="230428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Policy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7242048" y="2926080"/>
            <a:ext cx="1325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outputs trust score → Policy Decision Point grants, denies, or triggers MFA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INNOVATION: Privacy budget ε is dynamically calibrated per session based on context — not fixed globally. Higher risk = stronger privacy = smaller ε.</a:t>
            </a:r>
            <a:endParaRPr lang="en-US" sz="95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NOVELTIES &amp; CONTRIBUTIONS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0058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978408" y="1042416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042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NOVELTY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93192" y="1408176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Privacy Budget Allocation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93192" y="1773936"/>
            <a:ext cx="3950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framework to dynamically calibrate the differential privacy parameter ε based on real-time session context (user role, device, location, behavioral signals). Existing works apply fixed ε uniformly to all clients.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28600" y="2926080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" y="309067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978408" y="312724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CONTRIBUTION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3192" y="349300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ZTA + FL + DP Framework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93192" y="3858768"/>
            <a:ext cx="3950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cohesive three-layer architecture integrating Zero Trust policy enforcement, Federated Learning for distributed training, and Differential Privacy guarantees — no existing work combines all three adaptively.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681728" y="841248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058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5431536" y="1042416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1042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CONTRIBUTION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1408176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Risk Scoring Without Data Sharing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846320" y="1773936"/>
            <a:ext cx="3950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multiple organizations to collaboratively build a superior risk assessment model without any raw behavioral data ever leaving local systems — addressing both privacy regulations (GDPR) and security needs.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681728" y="2926080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09067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5431536" y="312724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31536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CONTRIBUTION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46320" y="349300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Privacy-Utility Trade-off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846320" y="3858768"/>
            <a:ext cx="3950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ε assignment reduces unnecessary noise for low-risk sessions, improving model accuracy by an estimated 12–18% over fixed-ε baselines while maintaining formal (ε,δ)-DP guarantees for high-risk sessions.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0891B2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22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(Hospital)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228600" y="12344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Extractor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Adaptive DP-SGD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011680" y="1353312"/>
            <a:ext cx="8229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19456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8B5CF6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(Enterprise)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28600" y="26060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Extractor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Adaptive DP-SGD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2011680" y="2724912"/>
            <a:ext cx="8229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356616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F59E0B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3566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(Bank)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286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 Extractor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Adaptive DP-SGD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2011680" y="4096512"/>
            <a:ext cx="8229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914399"/>
            <a:ext cx="2377440" cy="3401561"/>
          </a:xfrm>
          <a:prstGeom prst="roundRect">
            <a:avLst>
              <a:gd name="adj" fmla="val 5385"/>
            </a:avLst>
          </a:prstGeom>
          <a:solidFill>
            <a:srgbClr val="0D1B3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1051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3017520" y="1828800"/>
            <a:ext cx="2084832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0" y="1828800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latin typeface="Calibri" pitchFamily="34" charset="0"/>
                <a:ea typeface="Calibri" pitchFamily="34" charset="-122"/>
                <a:cs typeface="Calibri" pitchFamily="34" charset="-120"/>
              </a:rPr>
              <a:t>▸  FedAvg Aggregation</a:t>
            </a:r>
            <a:endParaRPr lang="en-US" sz="900" b="1"/>
          </a:p>
        </p:txBody>
      </p:sp>
      <p:sp>
        <p:nvSpPr>
          <p:cNvPr id="20" name="Shape 18"/>
          <p:cNvSpPr/>
          <p:nvPr/>
        </p:nvSpPr>
        <p:spPr>
          <a:xfrm>
            <a:off x="3017520" y="2231136"/>
            <a:ext cx="2084832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2231136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latin typeface="Calibri" pitchFamily="34" charset="0"/>
                <a:ea typeface="Calibri" pitchFamily="34" charset="-122"/>
                <a:cs typeface="Calibri" pitchFamily="34" charset="-120"/>
              </a:rPr>
              <a:t>▸  Global Risk Model</a:t>
            </a:r>
            <a:endParaRPr lang="en-US" sz="900" b="1"/>
          </a:p>
        </p:txBody>
      </p:sp>
      <p:sp>
        <p:nvSpPr>
          <p:cNvPr id="22" name="Shape 20"/>
          <p:cNvSpPr/>
          <p:nvPr/>
        </p:nvSpPr>
        <p:spPr>
          <a:xfrm>
            <a:off x="3017520" y="2633472"/>
            <a:ext cx="2084832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2633472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latin typeface="Calibri" pitchFamily="34" charset="0"/>
                <a:ea typeface="Calibri" pitchFamily="34" charset="-122"/>
                <a:cs typeface="Calibri" pitchFamily="34" charset="-120"/>
              </a:rPr>
              <a:t>▸  Gradient Validation</a:t>
            </a:r>
            <a:endParaRPr lang="en-US" sz="900" b="1"/>
          </a:p>
        </p:txBody>
      </p:sp>
      <p:sp>
        <p:nvSpPr>
          <p:cNvPr id="24" name="Shape 22"/>
          <p:cNvSpPr/>
          <p:nvPr/>
        </p:nvSpPr>
        <p:spPr>
          <a:xfrm>
            <a:off x="3017520" y="3035808"/>
            <a:ext cx="2084832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303580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latin typeface="Calibri" pitchFamily="34" charset="0"/>
                <a:ea typeface="Calibri" pitchFamily="34" charset="-122"/>
                <a:cs typeface="Calibri" pitchFamily="34" charset="-120"/>
              </a:rPr>
              <a:t>▸  Privacy Budget Mgmt</a:t>
            </a:r>
            <a:endParaRPr lang="en-US" sz="900" b="1"/>
          </a:p>
        </p:txBody>
      </p:sp>
      <p:sp>
        <p:nvSpPr>
          <p:cNvPr id="26" name="Shape 24"/>
          <p:cNvSpPr/>
          <p:nvPr/>
        </p:nvSpPr>
        <p:spPr>
          <a:xfrm>
            <a:off x="3017520" y="3438144"/>
            <a:ext cx="2084832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3438144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Broadcasting</a:t>
            </a:r>
            <a:endParaRPr lang="en-US" sz="900" b="1"/>
          </a:p>
        </p:txBody>
      </p:sp>
      <p:sp>
        <p:nvSpPr>
          <p:cNvPr id="28" name="Shape 26"/>
          <p:cNvSpPr/>
          <p:nvPr/>
        </p:nvSpPr>
        <p:spPr>
          <a:xfrm>
            <a:off x="5257800" y="2514600"/>
            <a:ext cx="777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868680"/>
            <a:ext cx="2834640" cy="32918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960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POLICY ENGINE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6217920" y="1417320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Input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6263640" y="1709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User/device signals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6217920" y="2112264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2130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/>
          </a:p>
        </p:txBody>
      </p:sp>
      <p:sp>
        <p:nvSpPr>
          <p:cNvPr id="36" name="Text 34"/>
          <p:cNvSpPr/>
          <p:nvPr/>
        </p:nvSpPr>
        <p:spPr>
          <a:xfrm>
            <a:off x="6263640" y="2404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output: 0.0–1.0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6217920" y="2807208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825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(PDP)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6263640" y="3099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vs. thresholds</a:t>
            </a:r>
            <a:endParaRPr lang="en-US" sz="850"/>
          </a:p>
        </p:txBody>
      </p:sp>
      <p:sp>
        <p:nvSpPr>
          <p:cNvPr id="40" name="Shape 38"/>
          <p:cNvSpPr/>
          <p:nvPr/>
        </p:nvSpPr>
        <p:spPr>
          <a:xfrm>
            <a:off x="6217920" y="3502152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r>
              <a:rPr lang="en-US" sz="950"/>
              <a:t> </a:t>
            </a:r>
            <a:r>
              <a:rPr lang="en-US" sz="9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(PEP)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6263640" y="3794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/ MFA / Deny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144768" y="4315968"/>
            <a:ext cx="795528" cy="347472"/>
          </a:xfrm>
          <a:prstGeom prst="roundRect">
            <a:avLst>
              <a:gd name="adj" fmla="val 18421"/>
            </a:avLst>
          </a:prstGeom>
          <a:solidFill>
            <a:srgbClr val="10B981">
              <a:alpha val="7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144768" y="4315968"/>
            <a:ext cx="795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GRANT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7050024" y="4315968"/>
            <a:ext cx="795528" cy="347472"/>
          </a:xfrm>
          <a:prstGeom prst="roundRect">
            <a:avLst>
              <a:gd name="adj" fmla="val 18421"/>
            </a:avLst>
          </a:prstGeom>
          <a:solidFill>
            <a:srgbClr val="F59E0B">
              <a:alpha val="7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50024" y="4315968"/>
            <a:ext cx="795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MFA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7955280" y="4315968"/>
            <a:ext cx="795528" cy="347472"/>
          </a:xfrm>
          <a:prstGeom prst="roundRect">
            <a:avLst>
              <a:gd name="adj" fmla="val 18421"/>
            </a:avLst>
          </a:prstGeom>
          <a:solidFill>
            <a:srgbClr val="EF4444">
              <a:alpha val="7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955280" y="4315968"/>
            <a:ext cx="795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DENY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315595" y="4713731"/>
            <a:ext cx="5960110" cy="374906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50" name="Text 48"/>
          <p:cNvSpPr/>
          <p:nvPr/>
        </p:nvSpPr>
        <p:spPr>
          <a:xfrm>
            <a:off x="228600" y="4679694"/>
            <a:ext cx="6134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Mechanism:  ε(context) = f(risk_tier, sensitivity, data_type)  →  Gaussian noise N(0, σ²) added to gradients before upload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DATASETS &amp; TOOLS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914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3017520" y="950976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0891B2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95097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Canberra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Size: </a:t>
            </a:r>
            <a:r>
              <a:rPr lang="en-US" sz="850">
                <a:solidFill>
                  <a:srgbClr val="1E293B"/>
                </a:solidFill>
              </a:rPr>
              <a:t>2.5M records   </a:t>
            </a:r>
            <a:r>
              <a:rPr lang="en-US" sz="850" b="1">
                <a:solidFill>
                  <a:srgbClr val="64748B"/>
                </a:solidFill>
              </a:rPr>
              <a:t>Features: </a:t>
            </a:r>
            <a:r>
              <a:rPr lang="en-US" sz="850">
                <a:solidFill>
                  <a:srgbClr val="1E293B"/>
                </a:solidFill>
              </a:rPr>
              <a:t>49 features incl. protocol, service, state, attack category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0891B2"/>
                </a:solidFill>
              </a:rPr>
              <a:t>Use: </a:t>
            </a:r>
            <a:r>
              <a:rPr lang="en-US" sz="850">
                <a:solidFill>
                  <a:srgbClr val="1E293B"/>
                </a:solidFill>
              </a:rPr>
              <a:t>Primary: network intrusion + anomaly detection baseline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32688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9144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 2017/2018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7452360" y="950976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8B5CF6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95097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 New Brunswick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10912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Size: </a:t>
            </a:r>
            <a:r>
              <a:rPr lang="en-US" sz="850">
                <a:solidFill>
                  <a:srgbClr val="1E293B"/>
                </a:solidFill>
              </a:rPr>
              <a:t>~3M flows   </a:t>
            </a:r>
            <a:r>
              <a:rPr lang="en-US" sz="850" b="1">
                <a:solidFill>
                  <a:srgbClr val="64748B"/>
                </a:solidFill>
              </a:rPr>
              <a:t>Features: </a:t>
            </a:r>
            <a:r>
              <a:rPr lang="en-US" sz="850">
                <a:solidFill>
                  <a:srgbClr val="1E293B"/>
                </a:solidFill>
              </a:rPr>
              <a:t>78 features: flow duration, packet stats, flags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5010912" y="1572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8B5CF6"/>
                </a:solidFill>
              </a:rPr>
              <a:t>Use: </a:t>
            </a:r>
            <a:r>
              <a:rPr lang="en-US" sz="850">
                <a:solidFill>
                  <a:srgbClr val="1E293B"/>
                </a:solidFill>
              </a:rPr>
              <a:t>Traffic classification; labeled benign + 14 attack types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28600" y="2258568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68296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23500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Insider Threat v6.2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017520" y="2386584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F59E0B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238658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6072" y="2670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Size: </a:t>
            </a:r>
            <a:r>
              <a:rPr lang="en-US" sz="850">
                <a:solidFill>
                  <a:srgbClr val="1E293B"/>
                </a:solidFill>
              </a:rPr>
              <a:t>1000 users, 17 scenarios   </a:t>
            </a:r>
            <a:r>
              <a:rPr lang="en-US" sz="850" b="1">
                <a:solidFill>
                  <a:srgbClr val="64748B"/>
                </a:solidFill>
              </a:rPr>
              <a:t>Features: </a:t>
            </a:r>
            <a:r>
              <a:rPr lang="en-US" sz="850">
                <a:solidFill>
                  <a:srgbClr val="1E293B"/>
                </a:solidFill>
              </a:rPr>
              <a:t>Email, web, file, logon/logoff behavioral logs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576072" y="3008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F59E0B"/>
                </a:solidFill>
              </a:rPr>
              <a:t>Use: </a:t>
            </a:r>
            <a:r>
              <a:rPr lang="en-US" sz="850">
                <a:solidFill>
                  <a:srgbClr val="1E293B"/>
                </a:solidFill>
              </a:rPr>
              <a:t>Insider threat detection; behavioral analytics for ZTA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4663440" y="2258568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68296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23500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Cup 1999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7452360" y="2386584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10B981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238658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Repository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10912" y="2670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Size: </a:t>
            </a:r>
            <a:r>
              <a:rPr lang="en-US" sz="850">
                <a:solidFill>
                  <a:srgbClr val="1E293B"/>
                </a:solidFill>
              </a:rPr>
              <a:t>5M connections   </a:t>
            </a:r>
            <a:r>
              <a:rPr lang="en-US" sz="850" b="1">
                <a:solidFill>
                  <a:srgbClr val="64748B"/>
                </a:solidFill>
              </a:rPr>
              <a:t>Features: </a:t>
            </a:r>
            <a:r>
              <a:rPr lang="en-US" sz="850">
                <a:solidFill>
                  <a:srgbClr val="1E293B"/>
                </a:solidFill>
              </a:rPr>
              <a:t>41 features: network, content, traffic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5010912" y="3008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10B981"/>
                </a:solidFill>
              </a:rPr>
              <a:t>Use: </a:t>
            </a:r>
            <a:r>
              <a:rPr lang="en-US" sz="850">
                <a:solidFill>
                  <a:srgbClr val="1E293B"/>
                </a:solidFill>
              </a:rPr>
              <a:t>Widely-used baseline for comparison with prior works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228600" y="3694176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803904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3785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 Dataset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3017520" y="3822192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E94560">
              <a:alpha val="7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382219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NV / Kaggle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6072" y="4105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Size: </a:t>
            </a:r>
            <a:r>
              <a:rPr lang="en-US" sz="850">
                <a:solidFill>
                  <a:srgbClr val="1E293B"/>
                </a:solidFill>
              </a:rPr>
              <a:t>~8M events   </a:t>
            </a:r>
            <a:r>
              <a:rPr lang="en-US" sz="850" b="1">
                <a:solidFill>
                  <a:srgbClr val="64748B"/>
                </a:solidFill>
              </a:rPr>
              <a:t>Features: </a:t>
            </a:r>
            <a:r>
              <a:rPr lang="en-US" sz="850">
                <a:solidFill>
                  <a:srgbClr val="1E293B"/>
                </a:solidFill>
              </a:rPr>
              <a:t>Host-based logs: syscalls, process events, network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576072" y="44439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E94560"/>
                </a:solidFill>
              </a:rPr>
              <a:t>Use: </a:t>
            </a:r>
            <a:r>
              <a:rPr lang="en-US" sz="850">
                <a:solidFill>
                  <a:srgbClr val="1E293B"/>
                </a:solidFill>
              </a:rPr>
              <a:t>Modern host-based intrusion; context-rich for ZTA scenarios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4663440" y="3694176"/>
            <a:ext cx="4251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03904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37856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Evals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7452360" y="3822192"/>
            <a:ext cx="1325880" cy="228600"/>
          </a:xfrm>
          <a:prstGeom prst="roundRect">
            <a:avLst>
              <a:gd name="adj" fmla="val 20000"/>
            </a:avLst>
          </a:prstGeom>
          <a:solidFill>
            <a:srgbClr val="64748B">
              <a:alpha val="7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452360" y="382219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Corporation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10912" y="4105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Size: </a:t>
            </a:r>
            <a:r>
              <a:rPr lang="en-US" sz="850">
                <a:solidFill>
                  <a:srgbClr val="1E293B"/>
                </a:solidFill>
              </a:rPr>
              <a:t>Multiple APT scenarios   </a:t>
            </a:r>
            <a:r>
              <a:rPr lang="en-US" sz="850" b="1">
                <a:solidFill>
                  <a:srgbClr val="64748B"/>
                </a:solidFill>
              </a:rPr>
              <a:t>Features: </a:t>
            </a:r>
            <a:r>
              <a:rPr lang="en-US" sz="850">
                <a:solidFill>
                  <a:srgbClr val="1E293B"/>
                </a:solidFill>
              </a:rPr>
              <a:t>Endpoint telemetry, adversary TTPs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5010912" y="44439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Use: </a:t>
            </a:r>
            <a:r>
              <a:rPr lang="en-US" sz="850">
                <a:solidFill>
                  <a:srgbClr val="1E293B"/>
                </a:solidFill>
              </a:rPr>
              <a:t>Advanced persistent threat simulation for ZTA evaluation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28600" y="4809744"/>
            <a:ext cx="8686800" cy="292608"/>
          </a:xfrm>
          <a:prstGeom prst="roundRect">
            <a:avLst>
              <a:gd name="adj" fmla="val 25000"/>
            </a:avLst>
          </a:prstGeom>
          <a:solidFill>
            <a:srgbClr val="0D1B3E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0974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Python  |  PyTorch  |  Flower (FL Framework)  |  Opacus (DP Library)  |  Scikit-learn  |  Pandas  |  SHAP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22960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K. Chokkanathan et al., "ZT-FL-PE: Zero Trust Driven Federated Learning for Privacy Enhancement," Applied Sciences, vol. 16, no. 8, Apr. 2026.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627632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Liu et al., "FedZTA: Asynchronous Federated Learning Based Zero Trust Architecture for Industrial Control Systems," Digital Comms. &amp; Networks, vol. 11, no. 2, 2025.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274320" y="2414016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432304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Arxiv 2512.23809, "Zero-Trust Agentic Federated Learning for Secure IIoT Defense Systems," Dec. 2025.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274320" y="3218688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3236976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S. R. Pokhrel et al., "Robust Zero Trust Architecture: Joint Blockchain-Based Federated Learning and Anomaly Detection," ACM SIGCOMM, 2024.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274320" y="402336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4041648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A. Hussain et al., "Ensuring Zero Trust IoT Data Privacy: Differential Privacy in Blockchain using Federated Learning," IEEE Trans. Consumer Electronics, 2024.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4681728" y="804672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822960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I. Khalaf et al., "Federated Learning with Hybrid Differential Privacy for Secure Cross-IoT Platform Knowledge Sharing," Security &amp; Privacy, Wiley, 2024.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4681728" y="1609344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91456" y="1627632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T. Wang et al., "Zero-Knowledge Federated Learning: A New Trustworthy and Privacy-Preserving Distributed Learning Paradigm," arXiv:2503.15550, 2025.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4681728" y="2414016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91456" y="2432304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NIST, "Zero Trust Architecture," SP 800-207, National Institute of Standards and Technology, 2020.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4681728" y="3218688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91456" y="3236976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C. Dwork and A. Roth, "The Algorithmic Foundations of Differential Privacy," Found. &amp; Trends in TCS, vol. 9, no. 3–4, 2014.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681728" y="4023360"/>
            <a:ext cx="4251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91456" y="4041648"/>
            <a:ext cx="40416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B. McMahan et al., "Communication-Efficient Learning of Deep Networks from Decentralized Data (FedAvg)," AISTATS, 2017.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Differential Privacy for Federated Risk Assessment in Zero Trust Architecture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EF4444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176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502920" y="2523744"/>
            <a:ext cx="155448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57860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DP in FL-ZTA systems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2468880" y="2103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891B2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176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697480" y="2523744"/>
            <a:ext cx="1554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57860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ε + Federated Risk Model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8B5CF6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176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892040" y="2523744"/>
            <a:ext cx="15544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57860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+ Opacus + UNSW-NB15 / CERT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858000" y="21031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59E0B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176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Output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086600" y="2523744"/>
            <a:ext cx="15544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57860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1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IFS / Computers &amp; Security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228600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3200400" y="4206240"/>
            <a:ext cx="27432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Department  ·  2025–2026  ·  Supervised Research Proposal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Proposal: Context-Aware DP for Federated Risk Assessment in ZTA</dc:title>
  <dc:subject>PptxGenJS Presentation</dc:subject>
  <dc:creator>Data Science Research Student</dc:creator>
  <cp:revision>1</cp:revision>
  <dcterms:created xsi:type="dcterms:W3CDTF">2026-07-07T08:31:09Z</dcterms:created>
  <dcterms:modified xsi:type="dcterms:W3CDTF">2026-08-04T13:38:30Z</dcterms:modified>
</cp:coreProperties>
</file>